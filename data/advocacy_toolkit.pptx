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5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743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2B1A-6550-9E83-5D36-5D4398F6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E554E-5445-BC79-DB7E-A9EC4A498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F0E22-7D28-CA6B-1828-3BA84E9B8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B1310-498E-6921-459E-872E365C8C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39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a.me/+201556878109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Family Support Toolkit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Families of Patients with Schizophrenia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1965960"/>
            <a:ext cx="365760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Mental Health Advocacy Project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Psychiatric Mental Health Nursing – Theory  |  MEU Faculty of Nursing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Semester 2025/2026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108959"/>
            <a:ext cx="7315200" cy="1595775"/>
          </a:xfrm>
          <a:prstGeom prst="rect">
            <a:avLst/>
          </a:prstGeom>
          <a:solidFill>
            <a:srgbClr val="0A4A5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EG" dirty="0">
              <a:solidFill>
                <a:schemeClr val="bg1"/>
              </a:solidFill>
            </a:endParaRPr>
          </a:p>
          <a:p>
            <a:r>
              <a:rPr lang="ar-SA" dirty="0">
                <a:solidFill>
                  <a:schemeClr val="bg1"/>
                </a:solidFill>
              </a:rPr>
              <a:t> مشاعل بنت هادي الرويلي 202430502</a:t>
            </a:r>
          </a:p>
          <a:p>
            <a:r>
              <a:rPr lang="ar-SA" dirty="0">
                <a:solidFill>
                  <a:schemeClr val="bg1"/>
                </a:solidFill>
              </a:rPr>
              <a:t> سارة بنت عنيد الرويلي 202430105</a:t>
            </a:r>
            <a:endParaRPr lang="en-EG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4930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470235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Faculty of Psychiatric Mental Health Nursing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0" y="494690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Mental Health Literacy | Reducing Stigma | Supporting Families</a:t>
            </a:r>
            <a:endParaRPr lang="en-US" sz="9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53D37A-707C-2FCE-4B72-EA475E036B4B}"/>
              </a:ext>
            </a:extLst>
          </p:cNvPr>
          <p:cNvSpPr txBox="1"/>
          <p:nvPr/>
        </p:nvSpPr>
        <p:spPr>
          <a:xfrm>
            <a:off x="5184057" y="339988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تذكار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بنت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مقبل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الرويلي</a:t>
            </a:r>
            <a:r>
              <a:rPr lang="en-US" dirty="0">
                <a:solidFill>
                  <a:schemeClr val="bg1"/>
                </a:solidFill>
              </a:rPr>
              <a:t> 202430520</a:t>
            </a:r>
          </a:p>
          <a:p>
            <a:r>
              <a:rPr lang="ar-EG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هتان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بنت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فرج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الرويلي</a:t>
            </a:r>
            <a:r>
              <a:rPr lang="en-US" dirty="0">
                <a:solidFill>
                  <a:schemeClr val="bg1"/>
                </a:solidFill>
              </a:rPr>
              <a:t> 202410172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4643C0-5E9D-0097-DF65-A1F4A7E52EE7}"/>
              </a:ext>
            </a:extLst>
          </p:cNvPr>
          <p:cNvSpPr txBox="1"/>
          <p:nvPr/>
        </p:nvSpPr>
        <p:spPr>
          <a:xfrm>
            <a:off x="3471402" y="4082796"/>
            <a:ext cx="4878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آثار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بنت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سليمان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المفيتيح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families of schizophrenia patients need this toolkit?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82880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schizophrenia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(WHO, 2023)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828800" cy="1371600"/>
          </a:xfrm>
          <a:prstGeom prst="rect">
            <a:avLst/>
          </a:prstGeom>
          <a:solidFill>
            <a:srgbClr val="00A89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246888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in low/middle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countries receive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mental health care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828800" cy="1371600"/>
          </a:xfrm>
          <a:prstGeom prst="rect">
            <a:avLst/>
          </a:prstGeom>
          <a:solidFill>
            <a:srgbClr val="05373E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457200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of stigma, social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0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&amp; family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0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burden reported in Jordan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75120" y="1143000"/>
            <a:ext cx="2103120" cy="1371600"/>
          </a:xfrm>
          <a:prstGeom prst="rect">
            <a:avLst/>
          </a:prstGeom>
          <a:solidFill>
            <a:srgbClr val="D9770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667512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1645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primary caregivers yet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minimal formal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about the illness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3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Identified Problems: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lack evidence-based knowledge about schizophrenia (DSM-5-TR criteria, symptoms, relapse signs)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levels of self-stigma and community stigma prevent families from seeking professional help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experience burnout and role strain without adequate coping strategies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structured, Arabic-accessible psychoeducation tool exists for families in Jordan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recognition of relapse warning signs leads to preventable hospitalizations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 &amp;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To design and implement a Digital Family Support Toolkit that reduces stigma, promotes mental health literacy, and enhances the coping capacity of families caring for patients with schizophrenia.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57200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families with accurate, DSM-5-TR-based psychoeducation about schizophrenia symptoms, causes, and treatment.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0574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457200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4663440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13055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families with practical communication strategies to safely respond to hallucinations and aggressive behaviour.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86207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365760" y="2862072"/>
            <a:ext cx="457200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93522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families to recognise relapse warning signs and know when to seek urgent professional help.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86207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4663440" y="2862072"/>
            <a:ext cx="457200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466344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293522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stigma by correcting common misconceptions about schizophrenia as a 'personal weakness' or 'spiritual affliction.'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666744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365760" y="3666744"/>
            <a:ext cx="457200" cy="7132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365760" y="3867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7398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impact through a validated Pre/Post Knowledge Assessment to evaluate effectiveness of the toolkit.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Toolkit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designed for and what it contains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First-degree family members of diagnosed schizophrenia patients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Spouses, parents, and adult siblings serving as primary caregivers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limited prior knowledge of mental illness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Arabic-speaking families in Jordanian clinical/community settings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attending psychiatric outpatient clinics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1097280"/>
            <a:ext cx="64008" cy="32004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461772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Components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444752"/>
            <a:ext cx="4114800" cy="4572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470916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3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PDF Family Guide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8-page bilingual booklet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993392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4709160" y="2029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3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Awareness Video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240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destigmatization clip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2542032"/>
            <a:ext cx="4114800" cy="4572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4709160" y="2578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3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QR 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788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all digital resources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3090672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470916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3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Pre/Post Assessment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337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10-item knowledge quiz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3639312"/>
            <a:ext cx="4114800" cy="4572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4709160" y="3675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3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Guidance Cards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886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&amp; crisis cards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Content: Schizophrenia (DSM-5-TR)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foundation for all toolkit materials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2926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57200" y="11247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Criteria (Criterion A)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of the following, each present for ≥1 month: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Delusions  •  Hallucinations  •  Disorganized Speech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Grossly disorganized or catatonic behaviour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symptoms (flat affect, alogia, avolition)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74320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457200" y="2624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Symptoms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 &amp; visual hallucinations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Paranoid &amp; grandiose delusions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Disorganized speech &amp; thought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Bizarre behaviour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26060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3291840" y="2606040"/>
            <a:ext cx="2743200" cy="274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3383280" y="2624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Symptoms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91693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Flat/blunted affect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Alogia (poverty of speech)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Avolition (lack of motivation)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Anhedonia &amp; social withdrawal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26060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2743200" cy="27432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309360" y="2624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Symptoms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291693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working memory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Impaired attention &amp; focus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with planning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 deficits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Relapse Warning Signs Families Must Know: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3708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withdrawal  •  Sleep disturbance  •  Increased suspiciousness  •  Stopping medication  •  Neglecting hygiene  •  Bizarre speech  •  Refusing food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 Reduction: Myths vs. Facts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misconceptions is central to the toolkit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023360" cy="658368"/>
          </a:xfrm>
          <a:prstGeom prst="rect">
            <a:avLst/>
          </a:prstGeom>
          <a:solidFill>
            <a:srgbClr val="FE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64008" cy="6583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38912" y="12070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Schizophrenia is a split personality disorder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07408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73168" y="1115568"/>
            <a:ext cx="4069080" cy="658368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4773168" y="1115568"/>
            <a:ext cx="64008" cy="65836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4937760" y="120700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Schizophrenia and dissociative identity disorder are completely different diagnoses (DSM-5-TR, 2022)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4023360" cy="658368"/>
          </a:xfrm>
          <a:prstGeom prst="rect">
            <a:avLst/>
          </a:prstGeom>
          <a:solidFill>
            <a:srgbClr val="FE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274320" y="1865376"/>
            <a:ext cx="64008" cy="6583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438912" y="195681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People with schizophrenia are always violent and dangerous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07408" y="20482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73168" y="1865376"/>
            <a:ext cx="4069080" cy="658368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4773168" y="1865376"/>
            <a:ext cx="64008" cy="65836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4937760" y="195681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Research shows most patients are non-violent; they are far more likely to be victims than perpetrators of violence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15184"/>
            <a:ext cx="4023360" cy="658368"/>
          </a:xfrm>
          <a:prstGeom prst="rect">
            <a:avLst/>
          </a:prstGeom>
          <a:solidFill>
            <a:srgbClr val="FE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274320" y="2615184"/>
            <a:ext cx="64008" cy="6583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438912" y="27066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Schizophrenia is caused by bad parenting or family conflict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07408" y="27980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73168" y="2615184"/>
            <a:ext cx="4069080" cy="658368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4773168" y="2615184"/>
            <a:ext cx="64008" cy="65836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4937760" y="2706624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Caused by complex neurobiological, genetic, and environmental factors — not family behaviour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364992"/>
            <a:ext cx="4023360" cy="658368"/>
          </a:xfrm>
          <a:prstGeom prst="rect">
            <a:avLst/>
          </a:prstGeom>
          <a:solidFill>
            <a:srgbClr val="FE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274320" y="3364992"/>
            <a:ext cx="64008" cy="6583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438912" y="3456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Patients with schizophrenia cannot recover or live productive lives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07408" y="35478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73168" y="3364992"/>
            <a:ext cx="4069080" cy="658368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4773168" y="3364992"/>
            <a:ext cx="64008" cy="65836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4937760" y="345643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medication adherence and family support, many achieve functional recovery and community integration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14800"/>
            <a:ext cx="4023360" cy="658368"/>
          </a:xfrm>
          <a:prstGeom prst="rect">
            <a:avLst/>
          </a:prstGeom>
          <a:solidFill>
            <a:srgbClr val="FE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64008" cy="6583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438912" y="42062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It is a spiritual affliction / punishment — not a medical illness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07408" y="4297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773168" y="4114800"/>
            <a:ext cx="4069080" cy="658368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4773168" y="4114800"/>
            <a:ext cx="64008" cy="65836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4937760" y="420624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Schizophrenia is a brain disorder with measurable neurochemical and structural changes (dopamine dysregulation)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 Applied to the Advocacy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Assessment to Evaluation — fully integrated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627632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228600" y="11155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56232" y="118872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16276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1627632" cy="6400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320040" y="1609344"/>
            <a:ext cx="14630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Family's baseline knowledge about schizophrenia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stigma and misconceptions held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stress and role strain indicators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needs and literacy level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crisis management at home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84248" y="1097280"/>
            <a:ext cx="1627632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1984248" y="11155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11880" y="118872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84248" y="1508760"/>
            <a:ext cx="16276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1984248" y="1508760"/>
            <a:ext cx="1627632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2075688" y="1609344"/>
            <a:ext cx="14630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 Knowledge r/t lack of information about schizophrenia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Role Strain r/t long-term caregiving burden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Family Coping r/t stigma and poor support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for Caregiver Burnout r/t inadequate resources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39896" y="1097280"/>
            <a:ext cx="1627632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3739896" y="11155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67528" y="118872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39896" y="1508760"/>
            <a:ext cx="16276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3739896" y="1508760"/>
            <a:ext cx="1627632" cy="640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831336" y="1609344"/>
            <a:ext cx="14630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session, family identifies ≥3 relapse warning signs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demonstrates ≥3 safe communication strategies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states when to seek urgent psychiatric help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knowledge score improves by ≥30%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95544" y="1097280"/>
            <a:ext cx="1627632" cy="38404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5495544" y="11155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23176" y="118872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95544" y="1508760"/>
            <a:ext cx="16276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5495544" y="1508760"/>
            <a:ext cx="1627632" cy="640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5586984" y="1609344"/>
            <a:ext cx="14630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PDF booklet and review key sections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the 2-min awareness video together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responses to hallucinations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medication adherence strategies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QR code for ongoing digital resources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51192" y="1097280"/>
            <a:ext cx="1627632" cy="38404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7251192" y="11155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51192" y="1508760"/>
            <a:ext cx="16276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2" name="Shape 30"/>
          <p:cNvSpPr/>
          <p:nvPr/>
        </p:nvSpPr>
        <p:spPr>
          <a:xfrm>
            <a:off x="7251192" y="1508760"/>
            <a:ext cx="1627632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7342632" y="1609344"/>
            <a:ext cx="14630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post-test and compare with pre-test score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family satisfaction feedback form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can family identify warning signs?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scheduled at 2 weeks post-session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Specific Deliverables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member's responsibility and final output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16184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1618488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182880" y="111556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Mashael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38988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Content Lead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682496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92024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criteria summary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negative &amp; cognitive symptoms section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 guidance page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accuracy review of all materials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47672" y="1097280"/>
            <a:ext cx="16184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1947672" y="1097280"/>
            <a:ext cx="1618488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1947672" y="111556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47672" y="138988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 &amp; Education Lead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39112" y="1682496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20824" y="192024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Myths vs. Facts section of PDF booklet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stigma analysis content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Call-to-action messaging for families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Psychoeducation module text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12464" y="1097280"/>
            <a:ext cx="16184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3712464" y="1097280"/>
            <a:ext cx="1618488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3712464" y="111556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12464" y="138988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 Lead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03904" y="1682496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85616" y="192024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5-step nursing process integration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diagnoses (NANDA-format)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Assessment tool (10 items)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checklist for caregivers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77256" y="1097280"/>
            <a:ext cx="16184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5477256" y="1097280"/>
            <a:ext cx="1618488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5477256" y="111556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77256" y="138988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Technology Lead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68696" y="1682496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50408" y="192024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video production (2 min)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generation &amp; resource linking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 setup for toolkit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script and storyboard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42048" y="1097280"/>
            <a:ext cx="16184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7242048" y="1097280"/>
            <a:ext cx="1618488" cy="5303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7242048" y="111556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2048" y="138988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Assessment Lead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33488" y="1682496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192024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booklet layout and design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cards (hallucinations / crisis)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development &amp; presentation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toolkit packaging &amp; QA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Prototype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overview of the Digital Family Support Toolkit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560320" cy="347472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468880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46888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FAMILY GUIDE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Support Toolkit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2286000" cy="256032"/>
          </a:xfrm>
          <a:prstGeom prst="rect">
            <a:avLst/>
          </a:prstGeom>
          <a:solidFill>
            <a:srgbClr val="E8F6F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Understanding Schizophrenia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039112"/>
            <a:ext cx="22860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DSM-5-TR Symptoms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359152"/>
            <a:ext cx="2286000" cy="256032"/>
          </a:xfrm>
          <a:prstGeom prst="rect">
            <a:avLst/>
          </a:prstGeom>
          <a:solidFill>
            <a:srgbClr val="E8F6F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Myths &amp; Facts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679192"/>
            <a:ext cx="22860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Talking to Your Family Member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2999232"/>
            <a:ext cx="2286000" cy="256032"/>
          </a:xfrm>
          <a:prstGeom prst="rect">
            <a:avLst/>
          </a:prstGeom>
          <a:solidFill>
            <a:srgbClr val="E8F6F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Handling Hallucinations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3319272"/>
            <a:ext cx="22860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Relapse Warning Signs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3639312"/>
            <a:ext cx="2286000" cy="256032"/>
          </a:xfrm>
          <a:prstGeom prst="rect">
            <a:avLst/>
          </a:prstGeom>
          <a:solidFill>
            <a:srgbClr val="E8F6F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When to Call for Help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3959352"/>
            <a:ext cx="22860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Medication &amp; Support Tips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063240" y="1097280"/>
            <a:ext cx="2651760" cy="155448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3063240" y="1097280"/>
            <a:ext cx="265176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3154680" y="1115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What To Do During Hallucinations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54680" y="14904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— do not argue about the hallucination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their distress: 'I can see you're scared'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attention to a safe, familiar activity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environment is calm and non-threatening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psychiatrist if episode escalates or lasts &gt;30 min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063240" y="2788920"/>
            <a:ext cx="2651760" cy="1828800"/>
          </a:xfrm>
          <a:prstGeom prst="rect">
            <a:avLst/>
          </a:prstGeom>
          <a:solidFill>
            <a:srgbClr val="FE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3063240" y="2788920"/>
            <a:ext cx="2651760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3154680" y="2807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When to Seek URGENT Help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54680" y="318211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of suicidal thoughts or self-harm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violence toward others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refusal of food or medications for &gt;48h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aggression or physical danger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care for basic self-needs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43600" y="1097280"/>
            <a:ext cx="2834640" cy="1828800"/>
          </a:xfrm>
          <a:prstGeom prst="rect">
            <a:avLst/>
          </a:prstGeom>
          <a:solidFill>
            <a:srgbClr val="05373E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5943600" y="1143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146304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6647688" y="146304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6848856" y="146304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Shape 37"/>
          <p:cNvSpPr/>
          <p:nvPr/>
        </p:nvSpPr>
        <p:spPr>
          <a:xfrm>
            <a:off x="7050024" y="1463040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0" name="Shape 38"/>
          <p:cNvSpPr/>
          <p:nvPr/>
        </p:nvSpPr>
        <p:spPr>
          <a:xfrm>
            <a:off x="7251192" y="1463040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7452360" y="146304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Shape 40"/>
          <p:cNvSpPr/>
          <p:nvPr/>
        </p:nvSpPr>
        <p:spPr>
          <a:xfrm>
            <a:off x="7653528" y="146304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3" name="Shape 41"/>
          <p:cNvSpPr/>
          <p:nvPr/>
        </p:nvSpPr>
        <p:spPr>
          <a:xfrm>
            <a:off x="6446520" y="166420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4" name="Shape 42"/>
          <p:cNvSpPr/>
          <p:nvPr/>
        </p:nvSpPr>
        <p:spPr>
          <a:xfrm>
            <a:off x="6647688" y="166420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5" name="Shape 43"/>
          <p:cNvSpPr/>
          <p:nvPr/>
        </p:nvSpPr>
        <p:spPr>
          <a:xfrm>
            <a:off x="6848856" y="166420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6" name="Shape 44"/>
          <p:cNvSpPr/>
          <p:nvPr/>
        </p:nvSpPr>
        <p:spPr>
          <a:xfrm>
            <a:off x="7050024" y="1664208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7" name="Shape 45"/>
          <p:cNvSpPr/>
          <p:nvPr/>
        </p:nvSpPr>
        <p:spPr>
          <a:xfrm>
            <a:off x="7251192" y="166420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8" name="Shape 46"/>
          <p:cNvSpPr/>
          <p:nvPr/>
        </p:nvSpPr>
        <p:spPr>
          <a:xfrm>
            <a:off x="7452360" y="166420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9" name="Shape 47"/>
          <p:cNvSpPr/>
          <p:nvPr/>
        </p:nvSpPr>
        <p:spPr>
          <a:xfrm>
            <a:off x="7653528" y="166420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0" name="Shape 48"/>
          <p:cNvSpPr/>
          <p:nvPr/>
        </p:nvSpPr>
        <p:spPr>
          <a:xfrm>
            <a:off x="6446520" y="1865376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1" name="Shape 49"/>
          <p:cNvSpPr/>
          <p:nvPr/>
        </p:nvSpPr>
        <p:spPr>
          <a:xfrm>
            <a:off x="6647688" y="1865376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2" name="Shape 50"/>
          <p:cNvSpPr/>
          <p:nvPr/>
        </p:nvSpPr>
        <p:spPr>
          <a:xfrm>
            <a:off x="6848856" y="1865376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3" name="Shape 51"/>
          <p:cNvSpPr/>
          <p:nvPr/>
        </p:nvSpPr>
        <p:spPr>
          <a:xfrm>
            <a:off x="7050024" y="1865376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4" name="Shape 52"/>
          <p:cNvSpPr/>
          <p:nvPr/>
        </p:nvSpPr>
        <p:spPr>
          <a:xfrm>
            <a:off x="7251192" y="1865376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5" name="Shape 53"/>
          <p:cNvSpPr/>
          <p:nvPr/>
        </p:nvSpPr>
        <p:spPr>
          <a:xfrm>
            <a:off x="7452360" y="1865376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6" name="Shape 54"/>
          <p:cNvSpPr/>
          <p:nvPr/>
        </p:nvSpPr>
        <p:spPr>
          <a:xfrm>
            <a:off x="7653528" y="1865376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7" name="Shape 55"/>
          <p:cNvSpPr/>
          <p:nvPr/>
        </p:nvSpPr>
        <p:spPr>
          <a:xfrm>
            <a:off x="6446520" y="2066544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8" name="Shape 56"/>
          <p:cNvSpPr/>
          <p:nvPr/>
        </p:nvSpPr>
        <p:spPr>
          <a:xfrm>
            <a:off x="6647688" y="2066544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9" name="Shape 57"/>
          <p:cNvSpPr/>
          <p:nvPr/>
        </p:nvSpPr>
        <p:spPr>
          <a:xfrm>
            <a:off x="6848856" y="2066544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0" name="Shape 58"/>
          <p:cNvSpPr/>
          <p:nvPr/>
        </p:nvSpPr>
        <p:spPr>
          <a:xfrm>
            <a:off x="7050024" y="2066544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1" name="Shape 59"/>
          <p:cNvSpPr/>
          <p:nvPr/>
        </p:nvSpPr>
        <p:spPr>
          <a:xfrm>
            <a:off x="7251192" y="2066544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2" name="Shape 60"/>
          <p:cNvSpPr/>
          <p:nvPr/>
        </p:nvSpPr>
        <p:spPr>
          <a:xfrm>
            <a:off x="7452360" y="2066544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3" name="Shape 61"/>
          <p:cNvSpPr/>
          <p:nvPr/>
        </p:nvSpPr>
        <p:spPr>
          <a:xfrm>
            <a:off x="7653528" y="2066544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4" name="Shape 62"/>
          <p:cNvSpPr/>
          <p:nvPr/>
        </p:nvSpPr>
        <p:spPr>
          <a:xfrm>
            <a:off x="6446520" y="2267712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5" name="Shape 63"/>
          <p:cNvSpPr/>
          <p:nvPr/>
        </p:nvSpPr>
        <p:spPr>
          <a:xfrm>
            <a:off x="6647688" y="2267712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6" name="Shape 64"/>
          <p:cNvSpPr/>
          <p:nvPr/>
        </p:nvSpPr>
        <p:spPr>
          <a:xfrm>
            <a:off x="6848856" y="2267712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7" name="Shape 65"/>
          <p:cNvSpPr/>
          <p:nvPr/>
        </p:nvSpPr>
        <p:spPr>
          <a:xfrm>
            <a:off x="7050024" y="2267712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8" name="Shape 66"/>
          <p:cNvSpPr/>
          <p:nvPr/>
        </p:nvSpPr>
        <p:spPr>
          <a:xfrm>
            <a:off x="7251192" y="2267712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9" name="Shape 67"/>
          <p:cNvSpPr/>
          <p:nvPr/>
        </p:nvSpPr>
        <p:spPr>
          <a:xfrm>
            <a:off x="7452360" y="2267712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0" name="Shape 68"/>
          <p:cNvSpPr/>
          <p:nvPr/>
        </p:nvSpPr>
        <p:spPr>
          <a:xfrm>
            <a:off x="7653528" y="2267712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1" name="Shape 69"/>
          <p:cNvSpPr/>
          <p:nvPr/>
        </p:nvSpPr>
        <p:spPr>
          <a:xfrm>
            <a:off x="6446520" y="246888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2" name="Shape 70"/>
          <p:cNvSpPr/>
          <p:nvPr/>
        </p:nvSpPr>
        <p:spPr>
          <a:xfrm>
            <a:off x="6647688" y="246888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3" name="Shape 71"/>
          <p:cNvSpPr/>
          <p:nvPr/>
        </p:nvSpPr>
        <p:spPr>
          <a:xfrm>
            <a:off x="6848856" y="2468880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4" name="Shape 72"/>
          <p:cNvSpPr/>
          <p:nvPr/>
        </p:nvSpPr>
        <p:spPr>
          <a:xfrm>
            <a:off x="7050024" y="2468880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5" name="Shape 73"/>
          <p:cNvSpPr/>
          <p:nvPr/>
        </p:nvSpPr>
        <p:spPr>
          <a:xfrm>
            <a:off x="7251192" y="246888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6" name="Shape 74"/>
          <p:cNvSpPr/>
          <p:nvPr/>
        </p:nvSpPr>
        <p:spPr>
          <a:xfrm>
            <a:off x="7452360" y="246888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7" name="Shape 75"/>
          <p:cNvSpPr/>
          <p:nvPr/>
        </p:nvSpPr>
        <p:spPr>
          <a:xfrm>
            <a:off x="7653528" y="246888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8" name="Shape 76"/>
          <p:cNvSpPr/>
          <p:nvPr/>
        </p:nvSpPr>
        <p:spPr>
          <a:xfrm>
            <a:off x="6446520" y="267004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9" name="Shape 77"/>
          <p:cNvSpPr/>
          <p:nvPr/>
        </p:nvSpPr>
        <p:spPr>
          <a:xfrm>
            <a:off x="6647688" y="267004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0" name="Shape 78"/>
          <p:cNvSpPr/>
          <p:nvPr/>
        </p:nvSpPr>
        <p:spPr>
          <a:xfrm>
            <a:off x="6848856" y="267004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1" name="Shape 79"/>
          <p:cNvSpPr/>
          <p:nvPr/>
        </p:nvSpPr>
        <p:spPr>
          <a:xfrm>
            <a:off x="7050024" y="2670048"/>
            <a:ext cx="182880" cy="182880"/>
          </a:xfrm>
          <a:prstGeom prst="rect">
            <a:avLst/>
          </a:prstGeom>
          <a:solidFill>
            <a:srgbClr val="0A4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2" name="Shape 80"/>
          <p:cNvSpPr/>
          <p:nvPr/>
        </p:nvSpPr>
        <p:spPr>
          <a:xfrm>
            <a:off x="7251192" y="267004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3" name="Shape 81"/>
          <p:cNvSpPr/>
          <p:nvPr/>
        </p:nvSpPr>
        <p:spPr>
          <a:xfrm>
            <a:off x="7452360" y="267004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4" name="Shape 82"/>
          <p:cNvSpPr/>
          <p:nvPr/>
        </p:nvSpPr>
        <p:spPr>
          <a:xfrm>
            <a:off x="7653528" y="2670048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5" name="Text 83"/>
          <p:cNvSpPr/>
          <p:nvPr/>
        </p:nvSpPr>
        <p:spPr>
          <a:xfrm>
            <a:off x="5989320" y="29992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access: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Family Guide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Awareness Video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Arabic Resources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943600" y="297180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87" name="Shape 85"/>
          <p:cNvSpPr/>
          <p:nvPr/>
        </p:nvSpPr>
        <p:spPr>
          <a:xfrm>
            <a:off x="5943600" y="2971800"/>
            <a:ext cx="283464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8" name="Text 86"/>
          <p:cNvSpPr/>
          <p:nvPr/>
        </p:nvSpPr>
        <p:spPr>
          <a:xfrm>
            <a:off x="6035040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Pre/Post Knowledge Test (Sample)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035040" y="3328416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schizophrenia caused by personal weakness?  ☐ Yes  ☐ No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patients live normal lives with treatment?  ☐ Yes  ☐ No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2 relapse warning signs: ___________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do during a hallucination episode?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schedule aligned with MEU office visit requirements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7955280" cy="7315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1143000" y="2624328"/>
            <a:ext cx="256032" cy="256032"/>
          </a:xfrm>
          <a:prstGeom prst="lin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2011680" cy="32004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28016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Goal Setting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64008" cy="18288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502920" y="303580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approval &amp; team role assignment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structure finalised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confirmed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Visit 1 – Dr. approval of plan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signed plan &amp; role matrix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37560" y="2624328"/>
            <a:ext cx="256032" cy="256032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2560320" y="109728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2560320" y="1097280"/>
            <a:ext cx="20116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2560320" y="1115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128016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Clinical Accuracy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0" y="2971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2560320" y="297180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2697480" y="303580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content verification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APA references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diagnoses validated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Visit 2 – content review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evidence-based content draft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532120" y="2624328"/>
            <a:ext cx="256032" cy="256032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201168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4754880" y="1115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28016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Review &amp; Media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64008" cy="18288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4892040" y="303580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booklet first draft complete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video filmed/produced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generated &amp; tested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Visit 3 – prototype feedback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functional digital toolkit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726680" y="2624328"/>
            <a:ext cx="256032" cy="256032"/>
          </a:xfrm>
          <a:prstGeom prst="lin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6949440" y="109728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2" name="Shape 30"/>
          <p:cNvSpPr/>
          <p:nvPr/>
        </p:nvSpPr>
        <p:spPr>
          <a:xfrm>
            <a:off x="6949440" y="1097280"/>
            <a:ext cx="20116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6949440" y="1115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128016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&amp; Submission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49440" y="2971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6949440" y="2971800"/>
            <a:ext cx="64008" cy="18288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7086600" y="303580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PowerPoint rehearsed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packaged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assessment piloted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 independent committee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complete advocacy toolkit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Knowledge Assessment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10-item validated questionnaire to measure toolkit effectiveness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560320" cy="100584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6217920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63640" y="13898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 |  1 point each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= ≥7/10 (70%)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≥30% improvement post-session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114800" cy="6858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64008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411480" y="1152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Schizophrenia is a medical brain disorder, not a character weakness.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72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TRUE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274320" y="1865376"/>
            <a:ext cx="64008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41148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All people with schizophrenia are violent and dangerous.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3408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FALSE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4114800" cy="6858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64008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411480" y="26883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Schizophrenia involves hearing voices that others cannot hear (hallucinations).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108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TRUE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64008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411480" y="3456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Once stable, patients can stop taking medication without risk.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8770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FALSE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4169664"/>
            <a:ext cx="4114800" cy="6858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64008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411480" y="42245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Negative symptoms include lack of motivation and emotional flatness.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6451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TRUE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1097280"/>
            <a:ext cx="4114800" cy="6858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4572000" y="1097280"/>
            <a:ext cx="64008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4709160" y="1152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Social withdrawal is a warning sign of a possible relapse.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1572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TRUE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186537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3" name="Shape 31"/>
          <p:cNvSpPr/>
          <p:nvPr/>
        </p:nvSpPr>
        <p:spPr>
          <a:xfrm>
            <a:off x="4572000" y="1865376"/>
            <a:ext cx="64008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4" name="Text 32"/>
          <p:cNvSpPr/>
          <p:nvPr/>
        </p:nvSpPr>
        <p:spPr>
          <a:xfrm>
            <a:off x="470916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Families should argue with the patient to prove the hallucination is not real.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23408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FALSE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0" y="2633472"/>
            <a:ext cx="4114800" cy="6858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4572000" y="2633472"/>
            <a:ext cx="64008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Text 36"/>
          <p:cNvSpPr/>
          <p:nvPr/>
        </p:nvSpPr>
        <p:spPr>
          <a:xfrm>
            <a:off x="4709160" y="26883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Suicidal statements by a patient require immediate professional help.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09160" y="3108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TRUE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340156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4572000" y="3401568"/>
            <a:ext cx="64008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4709160" y="3456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Schizophrenia is caused by bad parenting.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09160" y="38770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FALSE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4169664"/>
            <a:ext cx="4114800" cy="6858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5" name="Shape 43"/>
          <p:cNvSpPr/>
          <p:nvPr/>
        </p:nvSpPr>
        <p:spPr>
          <a:xfrm>
            <a:off x="4572000" y="4169664"/>
            <a:ext cx="64008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6" name="Text 44"/>
          <p:cNvSpPr/>
          <p:nvPr/>
        </p:nvSpPr>
        <p:spPr>
          <a:xfrm>
            <a:off x="4709160" y="42245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Family psychoeducation has been shown to reduce relapse rates.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09160" y="46451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TRUE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Video: Script &amp; Storyboard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destigmatization video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96012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25880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Calm family at home, soft music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5880" y="1426464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Narrator: 'Every day, millions of families live alongside schizophrenia — a medical brain disorder, not a choice.'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8595360" cy="6858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274320" y="1856232"/>
            <a:ext cx="96012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274320" y="19110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0:20–0:45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20370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Schizophrenia?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325880" y="1911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Simple brain diagram animation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25880" y="2185416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explanation: brain chemistry imbalance, DSM symptoms, emphasising it is treatable — not a spiritual failing.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274320" y="2615184"/>
            <a:ext cx="96012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274320" y="26700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9626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Myths Busted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32588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Split screen — myth vs. fact cards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25880" y="2944368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'Schizophrenia does NOT mean dangerous or violent. Patients can recover with proper care and family support.'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374136"/>
            <a:ext cx="8595360" cy="685800"/>
          </a:xfrm>
          <a:prstGeom prst="rect">
            <a:avLst/>
          </a:prstGeom>
          <a:solidFill>
            <a:srgbClr val="E8F6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274320" y="3374136"/>
            <a:ext cx="96012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274320" y="34290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1:10–1:40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37216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Family's Role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32588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Supportive family interaction scene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25880" y="370332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3 key messages: Stay calm. Encourage medication. Recognise early warning signs of relapse.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274320" y="4133088"/>
            <a:ext cx="96012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274320" y="4187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1:40–2:00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4805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32588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QR code displayed on screen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325880" y="446227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'Scan this QR code to access your Family Support Guide — because your support makes all the difference.'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373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References (APA 7th Edition)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sources underpinning all toolkit content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420624"/>
          </a:xfrm>
          <a:prstGeom prst="rect">
            <a:avLst/>
          </a:prstGeom>
          <a:solidFill>
            <a:srgbClr val="E8F6F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64008" cy="4206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11480" y="1133856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Psychiatric Association. (2022). Diagnostic and statistical manual of mental disorders (5th ed., text rev.). https://doi.org/10.1176/appi.books.9780890425787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8595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64008" cy="4206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411480" y="1609344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Shives, L. R. (2012). Basic concepts of psychiatric-mental health nursing (8th ed.). Lippincott Williams &amp; Wilkins.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8595360" cy="420624"/>
          </a:xfrm>
          <a:prstGeom prst="rect">
            <a:avLst/>
          </a:prstGeom>
          <a:solidFill>
            <a:srgbClr val="E8F6F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274320" y="2048256"/>
            <a:ext cx="64008" cy="4206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411480" y="208483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Townsend, M. C., &amp; Morgan, K. I. (2018). Psychiatric mental health nursing: Concepts of care in evidence-based practice (9th ed.). F.A. Davis.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8595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64008" cy="4206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411480" y="2560320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(2022). Mental disorders. https://www.who.int/news-room/fact-sheets/detail/mental-disorders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8595360" cy="420624"/>
          </a:xfrm>
          <a:prstGeom prst="rect">
            <a:avLst/>
          </a:prstGeom>
          <a:solidFill>
            <a:srgbClr val="E8F6F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64008" cy="4206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411480" y="3035808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Dixon, L. B., Dickerson, F., Bellack, A. S., Bennett, M., Dickinson, D., Goldberg, R. W., Lehman, A., Tenhula, W. N., Calmes, C., Pasillas, R. M., Peer, J., &amp; Kreyenbuhl, J. (2010). The 2009 schizophrenia PORT psychosocial treatment recommendations and summary statements. Schizophrenia Bulletin, 36(1), 48–70. https://doi.org/10.1093/schbul/sbp115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8595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64008" cy="4206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411480" y="3511296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Pitschel-Walz, G., Leucht, S., Bäuml, J., Kissling, W., &amp; Engel, R. R. (2001). The effect of family interventions on relapse and rehospitalization in schizophrenia: A meta-analysis. Schizophrenia Bulletin, 27(1), 73–92. https://doi.org/10.1093/oxfordjournals.schbul.a006861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8595360" cy="420624"/>
          </a:xfrm>
          <a:prstGeom prst="rect">
            <a:avLst/>
          </a:prstGeom>
          <a:solidFill>
            <a:srgbClr val="E8F6F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274320" y="3950208"/>
            <a:ext cx="64008" cy="4206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411480" y="3986784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Corrigan, P. W., &amp; Watson, A. C. (2002). Understanding the impact of stigma on people with mental illness. World Psychiatry, 1(1), 16–20.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4320" y="4425696"/>
            <a:ext cx="8595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274320" y="4425696"/>
            <a:ext cx="64008" cy="4206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411480" y="44622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Mental Health. (2023). Schizophrenia: Overview. https://www.nimh.nih.gov/health/topics/schizophrenia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3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of every family: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298448"/>
            <a:ext cx="7315200" cy="548640"/>
          </a:xfrm>
          <a:prstGeom prst="rect">
            <a:avLst/>
          </a:prstGeom>
          <a:solidFill>
            <a:srgbClr val="0A384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1051560" y="1389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54480" y="1389888"/>
            <a:ext cx="54864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1691640" y="13898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early warning signs of relapse before crisis occurs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956816"/>
            <a:ext cx="7315200" cy="548640"/>
          </a:xfrm>
          <a:prstGeom prst="rect">
            <a:avLst/>
          </a:prstGeom>
          <a:solidFill>
            <a:srgbClr val="0A384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1051560" y="2048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54480" y="2048256"/>
            <a:ext cx="54864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1691640" y="20482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medication adherence — never encourage stopping treatment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615184"/>
            <a:ext cx="7315200" cy="548640"/>
          </a:xfrm>
          <a:prstGeom prst="rect">
            <a:avLst/>
          </a:prstGeom>
          <a:solidFill>
            <a:srgbClr val="0A384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2706624"/>
            <a:ext cx="54864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1691640" y="27066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with compassion, without blame or shame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273552"/>
            <a:ext cx="7315200" cy="548640"/>
          </a:xfrm>
          <a:prstGeom prst="rect">
            <a:avLst/>
          </a:prstGeom>
          <a:solidFill>
            <a:srgbClr val="0A384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1051560" y="3364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54480" y="3364992"/>
            <a:ext cx="54864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1691640" y="33649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professional help early — do not wait for a crisis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solidFill>
            <a:srgbClr val="0A384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105156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54480" y="4023360"/>
            <a:ext cx="54864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1691640" y="40233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accurate information to actively reduce stigma in your community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your family member deserves understanding — not stigma.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7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6A3B5-9CCC-ECA4-C4AE-A5706F0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A13EBC-3FDB-7891-B755-6417F44AFB7D}"/>
              </a:ext>
            </a:extLst>
          </p:cNvPr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50BE50-9DCA-2F6F-6437-27F8C8828246}"/>
              </a:ext>
            </a:extLst>
          </p:cNvPr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algn="r"/>
            <a:r>
              <a:rPr lang="en-EG" sz="800" dirty="0"/>
              <a:t>Men3em : </a:t>
            </a:r>
            <a:r>
              <a:rPr lang="en-EG" sz="800" dirty="0">
                <a:hlinkClick r:id="rId3"/>
              </a:rPr>
              <a:t>01556878109</a:t>
            </a:r>
            <a:endParaRPr lang="en-EG" sz="8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4432FA3-D6C8-226E-E714-68FB771C43E4}"/>
              </a:ext>
            </a:extLst>
          </p:cNvPr>
          <p:cNvSpPr/>
          <p:nvPr/>
        </p:nvSpPr>
        <p:spPr>
          <a:xfrm>
            <a:off x="457200" y="232029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711569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2168</Words>
  <Application>Microsoft Office PowerPoint</Application>
  <PresentationFormat>On-screen Show (16:9)</PresentationFormat>
  <Paragraphs>333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Family Support Toolkit – Schizophrenia</dc:title>
  <dc:subject>PptxGenJS Presentation</dc:subject>
  <dc:creator>Nursing Team – MEU</dc:creator>
  <cp:lastModifiedBy>يوسف خالد جودة محسب محمد</cp:lastModifiedBy>
  <cp:revision>4</cp:revision>
  <dcterms:created xsi:type="dcterms:W3CDTF">2026-05-04T20:46:53Z</dcterms:created>
  <dcterms:modified xsi:type="dcterms:W3CDTF">2026-05-06T14:08:58Z</dcterms:modified>
</cp:coreProperties>
</file>